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3" r:id="rId4"/>
    <p:sldId id="262" r:id="rId5"/>
    <p:sldId id="258" r:id="rId6"/>
    <p:sldId id="264" r:id="rId7"/>
    <p:sldId id="259"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52FE4-9E73-5502-869B-6FE0A6E4C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3E5A5C0-3170-CA38-0496-FF326888F5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1A396A3-6C52-134B-2529-C2454E1783CB}"/>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5" name="Footer Placeholder 4">
            <a:extLst>
              <a:ext uri="{FF2B5EF4-FFF2-40B4-BE49-F238E27FC236}">
                <a16:creationId xmlns:a16="http://schemas.microsoft.com/office/drawing/2014/main" id="{271023E7-8B80-ECEB-394B-51B31C8308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18900F-2D15-9AA6-C0BD-232B87C357ED}"/>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2659047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FC2F7-D0AD-2175-08DA-C050971E8D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33F544-7525-83D9-0CC6-A1BF4A9FD4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BF0CCA-7DE4-E550-6451-C7C34599F8BE}"/>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5" name="Footer Placeholder 4">
            <a:extLst>
              <a:ext uri="{FF2B5EF4-FFF2-40B4-BE49-F238E27FC236}">
                <a16:creationId xmlns:a16="http://schemas.microsoft.com/office/drawing/2014/main" id="{65D887B1-3A44-291B-B7C6-DE35C93C37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B52FC0-436E-AA7B-7C7C-7BA60A772B50}"/>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2093552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F4996-C501-7A05-7200-4C94B4D14E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A3EE9E2-3015-30DC-F188-C49512172E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9F6C4-772F-03D5-C188-0E95B7D374A8}"/>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5" name="Footer Placeholder 4">
            <a:extLst>
              <a:ext uri="{FF2B5EF4-FFF2-40B4-BE49-F238E27FC236}">
                <a16:creationId xmlns:a16="http://schemas.microsoft.com/office/drawing/2014/main" id="{F95BB031-6BB7-191D-596A-38687A7636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10B7BD-79AE-2592-435B-039AF12711B0}"/>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3940165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456B4-2FD9-A1A1-2F70-7D7C75A827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8DE22A-C870-EC0C-27D2-F54CC609BA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28316A-A552-C34B-38D5-EDC6D548D1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FB6387-ADD7-9AC2-50E7-60FBF3937B2E}"/>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6" name="Footer Placeholder 5">
            <a:extLst>
              <a:ext uri="{FF2B5EF4-FFF2-40B4-BE49-F238E27FC236}">
                <a16:creationId xmlns:a16="http://schemas.microsoft.com/office/drawing/2014/main" id="{07A853A8-4462-B897-ACDE-1C75152A5F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211F5A-CDE7-F101-01B3-F1812EA6C08F}"/>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4256006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39BF3-61EA-9FBF-6F18-E63D6DBE59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5611D7-4863-B1F6-F74E-6DC3B74A8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950D65-AD5D-3C45-9EBD-1B159480CC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7965A0-8434-EFDE-BB12-18C21DD59F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1C35CA-4B51-B08B-C0F8-21D740D0AE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280CC9-1D8E-8C2F-F6F7-C7948A429D05}"/>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8" name="Footer Placeholder 7">
            <a:extLst>
              <a:ext uri="{FF2B5EF4-FFF2-40B4-BE49-F238E27FC236}">
                <a16:creationId xmlns:a16="http://schemas.microsoft.com/office/drawing/2014/main" id="{0915E9E4-1EE6-BE99-E78B-9244EFC9760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2FA96C-9521-94D0-D586-F11C799C07EF}"/>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3832561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1D61-F34B-CBB0-EFA1-617F3859BA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943861-DD65-B5AC-0C4B-17A104C55A5A}"/>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4" name="Footer Placeholder 3">
            <a:extLst>
              <a:ext uri="{FF2B5EF4-FFF2-40B4-BE49-F238E27FC236}">
                <a16:creationId xmlns:a16="http://schemas.microsoft.com/office/drawing/2014/main" id="{3BDF92F1-9E8A-611F-3E5A-9D53CB9715A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3CFEBC-AB73-B846-D222-A93B1511631F}"/>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3192310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BFD556-8893-BA7C-276E-6E066D2C2080}"/>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3" name="Footer Placeholder 2">
            <a:extLst>
              <a:ext uri="{FF2B5EF4-FFF2-40B4-BE49-F238E27FC236}">
                <a16:creationId xmlns:a16="http://schemas.microsoft.com/office/drawing/2014/main" id="{6BD2777B-B63B-D51E-A90A-550A0437A4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9B2B3E-029B-2353-F7ED-A25BE1F87308}"/>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1585170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8D9F-E549-EC7A-0B5A-46CFDB6FEF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7C800A-8FB3-C758-267D-435D64D759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6D18A2-14A1-277C-E094-A037B40AE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1C2CE0-4B88-6AA8-42B4-FF325C0F2BBC}"/>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6" name="Footer Placeholder 5">
            <a:extLst>
              <a:ext uri="{FF2B5EF4-FFF2-40B4-BE49-F238E27FC236}">
                <a16:creationId xmlns:a16="http://schemas.microsoft.com/office/drawing/2014/main" id="{8B40E9C4-263C-52E7-B37F-1F4BA7007D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CD9774-97C2-6094-AC79-8B79D4697992}"/>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4216562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7F20-3CA3-22E7-538B-2E9E884DE1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3EDE43-2ED8-1614-CC14-990624C031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FE56BD-1DDB-A766-1F51-1C699D367B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5A24F5-7E57-1D6A-00AD-B93FF415590C}"/>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6" name="Footer Placeholder 5">
            <a:extLst>
              <a:ext uri="{FF2B5EF4-FFF2-40B4-BE49-F238E27FC236}">
                <a16:creationId xmlns:a16="http://schemas.microsoft.com/office/drawing/2014/main" id="{61786FE5-296D-1348-A59C-298D98347B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2847CC-406B-0F2A-B8F9-B3377CB11503}"/>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130468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B12F6-7171-3FD6-38C6-4D4003BF45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A2C05A-9BE9-9CEF-3DCB-E17540A80E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763BEA-CB2F-0116-53D7-694FA8A575C1}"/>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5" name="Footer Placeholder 4">
            <a:extLst>
              <a:ext uri="{FF2B5EF4-FFF2-40B4-BE49-F238E27FC236}">
                <a16:creationId xmlns:a16="http://schemas.microsoft.com/office/drawing/2014/main" id="{C3166012-8C8B-A123-AB31-0120B0095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234FB7-BD84-B080-46CA-5B2F6105151A}"/>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4087442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B632A9-0917-CCEA-AC18-50E29729F8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1379EE-6E71-08C9-7EF5-CA5DF20C0F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38DC26-4094-504F-0F6F-41F985C95FEB}"/>
              </a:ext>
            </a:extLst>
          </p:cNvPr>
          <p:cNvSpPr>
            <a:spLocks noGrp="1"/>
          </p:cNvSpPr>
          <p:nvPr>
            <p:ph type="dt" sz="half" idx="10"/>
          </p:nvPr>
        </p:nvSpPr>
        <p:spPr/>
        <p:txBody>
          <a:bodyPr/>
          <a:lstStyle/>
          <a:p>
            <a:fld id="{D0BAE1B2-801F-4CCA-89A6-2E727C3E8AC5}" type="datetimeFigureOut">
              <a:rPr lang="en-IN" smtClean="0"/>
              <a:t>22-12-2022</a:t>
            </a:fld>
            <a:endParaRPr lang="en-IN"/>
          </a:p>
        </p:txBody>
      </p:sp>
      <p:sp>
        <p:nvSpPr>
          <p:cNvPr id="5" name="Footer Placeholder 4">
            <a:extLst>
              <a:ext uri="{FF2B5EF4-FFF2-40B4-BE49-F238E27FC236}">
                <a16:creationId xmlns:a16="http://schemas.microsoft.com/office/drawing/2014/main" id="{3B8DFFD7-4952-CDE1-5257-BB39971021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AF6A47-A85B-1DC3-D789-39CCE285092A}"/>
              </a:ext>
            </a:extLst>
          </p:cNvPr>
          <p:cNvSpPr>
            <a:spLocks noGrp="1"/>
          </p:cNvSpPr>
          <p:nvPr>
            <p:ph type="sldNum" sz="quarter" idx="12"/>
          </p:nvPr>
        </p:nvSpPr>
        <p:spPr/>
        <p:txBody>
          <a:bodyPr/>
          <a:lstStyle/>
          <a:p>
            <a:fld id="{F34A05D2-67B6-4A0A-A210-A7E4062EB376}" type="slidenum">
              <a:rPr lang="en-IN" smtClean="0"/>
              <a:t>‹#›</a:t>
            </a:fld>
            <a:endParaRPr lang="en-IN"/>
          </a:p>
        </p:txBody>
      </p:sp>
    </p:spTree>
    <p:extLst>
      <p:ext uri="{BB962C8B-B14F-4D97-AF65-F5344CB8AC3E}">
        <p14:creationId xmlns:p14="http://schemas.microsoft.com/office/powerpoint/2010/main" val="2322435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509906-DC0D-4812-1B77-C099328293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C7F3FE-CBF9-6156-CD24-C2E037123F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E9A8B6-B27A-6783-71F4-879254D79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BAE1B2-801F-4CCA-89A6-2E727C3E8AC5}" type="datetimeFigureOut">
              <a:rPr lang="en-IN" smtClean="0"/>
              <a:t>22-12-2022</a:t>
            </a:fld>
            <a:endParaRPr lang="en-IN"/>
          </a:p>
        </p:txBody>
      </p:sp>
      <p:sp>
        <p:nvSpPr>
          <p:cNvPr id="5" name="Footer Placeholder 4">
            <a:extLst>
              <a:ext uri="{FF2B5EF4-FFF2-40B4-BE49-F238E27FC236}">
                <a16:creationId xmlns:a16="http://schemas.microsoft.com/office/drawing/2014/main" id="{6702C575-8214-8019-E546-B7A06C4E6A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20A32EF-EE3C-D688-03D1-952CC9CAF0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4A05D2-67B6-4A0A-A210-A7E4062EB376}" type="slidenum">
              <a:rPr lang="en-IN" smtClean="0"/>
              <a:t>‹#›</a:t>
            </a:fld>
            <a:endParaRPr lang="en-IN"/>
          </a:p>
        </p:txBody>
      </p:sp>
    </p:spTree>
    <p:extLst>
      <p:ext uri="{BB962C8B-B14F-4D97-AF65-F5344CB8AC3E}">
        <p14:creationId xmlns:p14="http://schemas.microsoft.com/office/powerpoint/2010/main" val="1797404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838200" y="365126"/>
            <a:ext cx="10515600" cy="599150"/>
          </a:xfrm>
        </p:spPr>
        <p:txBody>
          <a:bodyPr>
            <a:normAutofit fontScale="90000"/>
          </a:bodyPr>
          <a:lstStyle/>
          <a:p>
            <a:pPr algn="ctr"/>
            <a:r>
              <a:rPr lang="en-US" dirty="0">
                <a:latin typeface="Centaur" panose="02030504050205020304" pitchFamily="18" charset="0"/>
              </a:rPr>
              <a:t>Kubernetes</a:t>
            </a:r>
            <a:endParaRPr lang="en-IN" dirty="0">
              <a:latin typeface="Centaur" panose="02030504050205020304" pitchFamily="18" charset="0"/>
            </a:endParaRPr>
          </a:p>
        </p:txBody>
      </p:sp>
      <p:sp>
        <p:nvSpPr>
          <p:cNvPr id="5" name="Content Placeholder 4">
            <a:extLst>
              <a:ext uri="{FF2B5EF4-FFF2-40B4-BE49-F238E27FC236}">
                <a16:creationId xmlns:a16="http://schemas.microsoft.com/office/drawing/2014/main" id="{356B4FA1-B538-D21E-13AD-BB2A0F7092AD}"/>
              </a:ext>
            </a:extLst>
          </p:cNvPr>
          <p:cNvSpPr>
            <a:spLocks noGrp="1"/>
          </p:cNvSpPr>
          <p:nvPr>
            <p:ph idx="1"/>
          </p:nvPr>
        </p:nvSpPr>
        <p:spPr>
          <a:xfrm>
            <a:off x="838200" y="1122218"/>
            <a:ext cx="10515600" cy="5054745"/>
          </a:xfrm>
        </p:spPr>
        <p:txBody>
          <a:bodyPr>
            <a:normAutofit/>
          </a:bodyPr>
          <a:lstStyle/>
          <a:p>
            <a:r>
              <a:rPr lang="en-IN" sz="1800" b="1" i="0" dirty="0">
                <a:effectLst/>
                <a:latin typeface="Centaur" panose="02030504050205020304" pitchFamily="18" charset="0"/>
              </a:rPr>
              <a:t>Kubernetes</a:t>
            </a:r>
            <a:r>
              <a:rPr lang="en-IN" sz="1800" b="0" i="0" dirty="0">
                <a:effectLst/>
                <a:latin typeface="Centaur" panose="02030504050205020304" pitchFamily="18" charset="0"/>
              </a:rPr>
              <a:t> is also known as </a:t>
            </a:r>
            <a:r>
              <a:rPr lang="en-IN" sz="1800" b="1" i="0" dirty="0">
                <a:effectLst/>
                <a:latin typeface="Centaur" panose="02030504050205020304" pitchFamily="18" charset="0"/>
              </a:rPr>
              <a:t>'k8s'.</a:t>
            </a:r>
            <a:r>
              <a:rPr lang="en-IN" sz="1800" b="0" i="0" dirty="0">
                <a:effectLst/>
                <a:latin typeface="Centaur" panose="02030504050205020304" pitchFamily="18" charset="0"/>
              </a:rPr>
              <a:t> This word comes from the Greek language, which means a </a:t>
            </a:r>
            <a:r>
              <a:rPr lang="en-IN" sz="1800" b="1" i="0" dirty="0">
                <a:effectLst/>
                <a:latin typeface="Centaur" panose="02030504050205020304" pitchFamily="18" charset="0"/>
              </a:rPr>
              <a:t>pilot</a:t>
            </a:r>
            <a:r>
              <a:rPr lang="en-IN" sz="1800" b="0" i="0" dirty="0">
                <a:effectLst/>
                <a:latin typeface="Centaur" panose="02030504050205020304" pitchFamily="18" charset="0"/>
              </a:rPr>
              <a:t> or </a:t>
            </a:r>
            <a:r>
              <a:rPr lang="en-IN" sz="1800" b="1" i="0" dirty="0">
                <a:effectLst/>
                <a:latin typeface="Centaur" panose="02030504050205020304" pitchFamily="18" charset="0"/>
              </a:rPr>
              <a:t>helmsman</a:t>
            </a:r>
            <a:r>
              <a:rPr lang="en-IN" sz="1800" b="0" i="0" dirty="0">
                <a:effectLst/>
                <a:latin typeface="Centaur" panose="02030504050205020304" pitchFamily="18" charset="0"/>
              </a:rPr>
              <a:t>.</a:t>
            </a:r>
          </a:p>
          <a:p>
            <a:r>
              <a:rPr lang="en-IN" sz="1800" b="1" i="0" dirty="0">
                <a:effectLst/>
                <a:latin typeface="Centaur" panose="02030504050205020304" pitchFamily="18" charset="0"/>
              </a:rPr>
              <a:t>Kubernetes</a:t>
            </a:r>
            <a:r>
              <a:rPr lang="en-IN" sz="1800" b="0" i="0" dirty="0">
                <a:effectLst/>
                <a:latin typeface="Centaur" panose="02030504050205020304" pitchFamily="18" charset="0"/>
              </a:rPr>
              <a:t> is an extensible, portable, and open-source platform designed by </a:t>
            </a:r>
            <a:r>
              <a:rPr lang="en-IN" sz="1800" b="1" i="0" dirty="0">
                <a:effectLst/>
                <a:latin typeface="Centaur" panose="02030504050205020304" pitchFamily="18" charset="0"/>
              </a:rPr>
              <a:t>Google</a:t>
            </a:r>
            <a:r>
              <a:rPr lang="en-IN" sz="1800" b="0" i="0" dirty="0">
                <a:effectLst/>
                <a:latin typeface="Centaur" panose="02030504050205020304" pitchFamily="18" charset="0"/>
              </a:rPr>
              <a:t> in </a:t>
            </a:r>
            <a:r>
              <a:rPr lang="en-IN" sz="1800" b="1" i="0" dirty="0">
                <a:effectLst/>
                <a:latin typeface="Centaur" panose="02030504050205020304" pitchFamily="18" charset="0"/>
              </a:rPr>
              <a:t>2014</a:t>
            </a:r>
            <a:r>
              <a:rPr lang="en-IN" sz="1800" b="0" i="0" dirty="0">
                <a:effectLst/>
                <a:latin typeface="Centaur" panose="02030504050205020304" pitchFamily="18" charset="0"/>
              </a:rPr>
              <a:t>.</a:t>
            </a:r>
          </a:p>
          <a:p>
            <a:r>
              <a:rPr lang="en-IN" sz="1800" b="0" i="0" dirty="0">
                <a:effectLst/>
                <a:latin typeface="Centaur" panose="02030504050205020304" pitchFamily="18" charset="0"/>
              </a:rPr>
              <a:t>It is mainly used to automate the deployment, scaling, managing micro-services and  containerized applications across a distributed cluster of nodes. </a:t>
            </a:r>
          </a:p>
          <a:p>
            <a:r>
              <a:rPr lang="en-IN" sz="1800" dirty="0">
                <a:latin typeface="Centaur" panose="02030504050205020304" pitchFamily="18" charset="0"/>
              </a:rPr>
              <a:t>Kubernetes gives you the platform to run your application on containers as cluster of physical or virtual machines.</a:t>
            </a:r>
          </a:p>
          <a:p>
            <a:r>
              <a:rPr lang="en-IN" sz="1800" b="0" i="0" dirty="0">
                <a:effectLst/>
                <a:latin typeface="Centaur" panose="02030504050205020304" pitchFamily="18" charset="0"/>
              </a:rPr>
              <a:t>A Kubernetes cluster is a set of machines for running containerized applications. You can visualize a Kubernetes cluster as two parts: the control plane and the compute machines, or nodes. </a:t>
            </a:r>
          </a:p>
          <a:p>
            <a:r>
              <a:rPr lang="en-IN" sz="1800" dirty="0">
                <a:latin typeface="Centaur" panose="02030504050205020304" pitchFamily="18" charset="0"/>
              </a:rPr>
              <a:t>The Kubernetes API (application programming interface) is the front end of the Kubernetes control plane and is how users interact with their Kubernetes cluster. </a:t>
            </a:r>
            <a:r>
              <a:rPr lang="en-IN" sz="1800" b="0" i="0" dirty="0">
                <a:effectLst/>
                <a:latin typeface="Centaur" panose="02030504050205020304" pitchFamily="18" charset="0"/>
              </a:rPr>
              <a:t> The API server determines if a request is valid and then processes it. The Kubernetes API is the interface used to manage, create, and configure Kubernetes clusters. It's how the users, external components, and parts of your cluster all communicate with each other.</a:t>
            </a:r>
          </a:p>
        </p:txBody>
      </p:sp>
    </p:spTree>
    <p:extLst>
      <p:ext uri="{BB962C8B-B14F-4D97-AF65-F5344CB8AC3E}">
        <p14:creationId xmlns:p14="http://schemas.microsoft.com/office/powerpoint/2010/main" val="2294848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838200" y="365126"/>
            <a:ext cx="10515600" cy="597936"/>
          </a:xfrm>
        </p:spPr>
        <p:txBody>
          <a:bodyPr>
            <a:normAutofit fontScale="90000"/>
          </a:bodyPr>
          <a:lstStyle/>
          <a:p>
            <a:pPr algn="ctr"/>
            <a:r>
              <a:rPr lang="en-US" dirty="0">
                <a:latin typeface="Centaur" panose="02030504050205020304" pitchFamily="18" charset="0"/>
              </a:rPr>
              <a:t>Components of Kubernetes master</a:t>
            </a:r>
            <a:endParaRPr lang="en-IN" dirty="0">
              <a:latin typeface="Centaur" panose="02030504050205020304" pitchFamily="18" charset="0"/>
            </a:endParaRPr>
          </a:p>
        </p:txBody>
      </p:sp>
      <p:sp>
        <p:nvSpPr>
          <p:cNvPr id="5" name="Content Placeholder 4">
            <a:extLst>
              <a:ext uri="{FF2B5EF4-FFF2-40B4-BE49-F238E27FC236}">
                <a16:creationId xmlns:a16="http://schemas.microsoft.com/office/drawing/2014/main" id="{356B4FA1-B538-D21E-13AD-BB2A0F7092AD}"/>
              </a:ext>
            </a:extLst>
          </p:cNvPr>
          <p:cNvSpPr>
            <a:spLocks noGrp="1"/>
          </p:cNvSpPr>
          <p:nvPr>
            <p:ph idx="1"/>
          </p:nvPr>
        </p:nvSpPr>
        <p:spPr>
          <a:xfrm>
            <a:off x="838200" y="1097280"/>
            <a:ext cx="10515600" cy="5079683"/>
          </a:xfrm>
        </p:spPr>
        <p:txBody>
          <a:bodyPr>
            <a:normAutofit/>
          </a:bodyPr>
          <a:lstStyle/>
          <a:p>
            <a:pPr marL="0" indent="0">
              <a:buNone/>
            </a:pPr>
            <a:r>
              <a:rPr lang="en-IN" sz="1800" b="0" i="0" dirty="0">
                <a:solidFill>
                  <a:srgbClr val="292929"/>
                </a:solidFill>
                <a:effectLst/>
                <a:latin typeface="Centaur" panose="02030504050205020304" pitchFamily="18" charset="0"/>
              </a:rPr>
              <a:t>As previously mentioned, the master and worker nodes within a Kubernetes cluster contain various components. The components of the master node collectively form the </a:t>
            </a:r>
            <a:r>
              <a:rPr lang="en-IN" sz="1800" b="1" i="0" dirty="0">
                <a:solidFill>
                  <a:srgbClr val="292929"/>
                </a:solidFill>
                <a:effectLst/>
                <a:latin typeface="Centaur" panose="02030504050205020304" pitchFamily="18" charset="0"/>
              </a:rPr>
              <a:t>Control Plane, </a:t>
            </a:r>
            <a:r>
              <a:rPr lang="en-IN" sz="1800" b="0" i="0" dirty="0">
                <a:solidFill>
                  <a:srgbClr val="292929"/>
                </a:solidFill>
                <a:effectLst/>
                <a:latin typeface="Centaur" panose="02030504050205020304" pitchFamily="18" charset="0"/>
              </a:rPr>
              <a:t>and the components of the worker node collectively form the </a:t>
            </a:r>
            <a:r>
              <a:rPr lang="en-IN" sz="1800" b="1" i="0" dirty="0">
                <a:solidFill>
                  <a:srgbClr val="292929"/>
                </a:solidFill>
                <a:effectLst/>
                <a:latin typeface="Centaur" panose="02030504050205020304" pitchFamily="18" charset="0"/>
              </a:rPr>
              <a:t>Data Plane</a:t>
            </a:r>
            <a:r>
              <a:rPr lang="en-IN" sz="1800" b="0" i="0" dirty="0">
                <a:solidFill>
                  <a:srgbClr val="292929"/>
                </a:solidFill>
                <a:effectLst/>
                <a:latin typeface="Centaur" panose="02030504050205020304" pitchFamily="18" charset="0"/>
              </a:rPr>
              <a:t>.</a:t>
            </a:r>
            <a:br>
              <a:rPr lang="en-IN" sz="1800" b="0" i="0" dirty="0">
                <a:solidFill>
                  <a:srgbClr val="292929"/>
                </a:solidFill>
                <a:effectLst/>
                <a:latin typeface="Centaur" panose="02030504050205020304" pitchFamily="18" charset="0"/>
              </a:rPr>
            </a:br>
            <a:r>
              <a:rPr lang="en-IN" sz="1800" b="0" i="0" dirty="0">
                <a:solidFill>
                  <a:srgbClr val="292929"/>
                </a:solidFill>
                <a:effectLst/>
                <a:latin typeface="Centaur" panose="02030504050205020304" pitchFamily="18" charset="0"/>
              </a:rPr>
              <a:t>The control plane serves as the command </a:t>
            </a:r>
            <a:r>
              <a:rPr lang="en-IN" sz="1800" b="0" i="0" dirty="0" err="1">
                <a:solidFill>
                  <a:srgbClr val="292929"/>
                </a:solidFill>
                <a:effectLst/>
                <a:latin typeface="Centaur" panose="02030504050205020304" pitchFamily="18" charset="0"/>
              </a:rPr>
              <a:t>center</a:t>
            </a:r>
            <a:r>
              <a:rPr lang="en-IN" sz="1800" b="0" i="0" dirty="0">
                <a:solidFill>
                  <a:srgbClr val="292929"/>
                </a:solidFill>
                <a:effectLst/>
                <a:latin typeface="Centaur" panose="02030504050205020304" pitchFamily="18" charset="0"/>
              </a:rPr>
              <a:t> in the cluster, while the data plane serves as the soldier executing commands. Let’s explore these components in detail.</a:t>
            </a:r>
          </a:p>
          <a:p>
            <a:pPr marL="0" indent="0">
              <a:buNone/>
            </a:pPr>
            <a:endParaRPr lang="en-US" sz="1400" dirty="0">
              <a:latin typeface="Centaur" panose="02030504050205020304" pitchFamily="18" charset="0"/>
            </a:endParaRPr>
          </a:p>
        </p:txBody>
      </p:sp>
      <p:pic>
        <p:nvPicPr>
          <p:cNvPr id="4" name="Picture 3" descr="Graphical user interface, diagram, application&#10;&#10;Description automatically generated">
            <a:extLst>
              <a:ext uri="{FF2B5EF4-FFF2-40B4-BE49-F238E27FC236}">
                <a16:creationId xmlns:a16="http://schemas.microsoft.com/office/drawing/2014/main" id="{8DE0FE59-BF07-0C07-F0E8-1FCCA597B3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837" y="2504138"/>
            <a:ext cx="7798734" cy="3314771"/>
          </a:xfrm>
          <a:prstGeom prst="rect">
            <a:avLst/>
          </a:prstGeom>
        </p:spPr>
      </p:pic>
    </p:spTree>
    <p:extLst>
      <p:ext uri="{BB962C8B-B14F-4D97-AF65-F5344CB8AC3E}">
        <p14:creationId xmlns:p14="http://schemas.microsoft.com/office/powerpoint/2010/main" val="1742452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838200" y="365125"/>
            <a:ext cx="10515600" cy="848533"/>
          </a:xfrm>
        </p:spPr>
        <p:txBody>
          <a:bodyPr>
            <a:normAutofit/>
          </a:bodyPr>
          <a:lstStyle/>
          <a:p>
            <a:pPr algn="ctr"/>
            <a:r>
              <a:rPr lang="en-US" dirty="0">
                <a:latin typeface="Centaur" panose="02030504050205020304" pitchFamily="18" charset="0"/>
              </a:rPr>
              <a:t>Components of Kubernetes master</a:t>
            </a:r>
            <a:endParaRPr lang="en-IN" dirty="0">
              <a:latin typeface="Centaur" panose="02030504050205020304" pitchFamily="18" charset="0"/>
            </a:endParaRPr>
          </a:p>
        </p:txBody>
      </p:sp>
      <p:sp>
        <p:nvSpPr>
          <p:cNvPr id="5" name="Content Placeholder 4">
            <a:extLst>
              <a:ext uri="{FF2B5EF4-FFF2-40B4-BE49-F238E27FC236}">
                <a16:creationId xmlns:a16="http://schemas.microsoft.com/office/drawing/2014/main" id="{356B4FA1-B538-D21E-13AD-BB2A0F7092AD}"/>
              </a:ext>
            </a:extLst>
          </p:cNvPr>
          <p:cNvSpPr>
            <a:spLocks noGrp="1"/>
          </p:cNvSpPr>
          <p:nvPr>
            <p:ph idx="1"/>
          </p:nvPr>
        </p:nvSpPr>
        <p:spPr>
          <a:xfrm>
            <a:off x="838200" y="1296785"/>
            <a:ext cx="10515600" cy="4880178"/>
          </a:xfrm>
        </p:spPr>
        <p:txBody>
          <a:bodyPr>
            <a:normAutofit/>
          </a:bodyPr>
          <a:lstStyle/>
          <a:p>
            <a:pPr marL="0" indent="0">
              <a:buNone/>
            </a:pPr>
            <a:r>
              <a:rPr lang="en-US" sz="1400" b="1" dirty="0">
                <a:latin typeface="Centaur" panose="02030504050205020304" pitchFamily="18" charset="0"/>
              </a:rPr>
              <a:t>Control plane</a:t>
            </a:r>
          </a:p>
          <a:p>
            <a:pPr marL="0" indent="0">
              <a:buNone/>
            </a:pPr>
            <a:r>
              <a:rPr lang="en-IN" sz="1400" b="0" i="0" dirty="0">
                <a:solidFill>
                  <a:srgbClr val="292929"/>
                </a:solidFill>
                <a:effectLst/>
                <a:latin typeface="Centaur" panose="02030504050205020304" pitchFamily="18" charset="0"/>
              </a:rPr>
              <a:t>The control plane components are responsible for granting external access to a Kubernetes cluster, storing the state of Kubernetes objects, scheduling objects to worker nodes, and detecting and responding to events within the cluster.</a:t>
            </a:r>
          </a:p>
          <a:p>
            <a:pPr marL="0" indent="0">
              <a:buNone/>
            </a:pPr>
            <a:r>
              <a:rPr lang="en-IN" sz="1400" b="0" i="0" dirty="0">
                <a:solidFill>
                  <a:srgbClr val="292929"/>
                </a:solidFill>
                <a:effectLst/>
                <a:latin typeface="Centaur" panose="02030504050205020304" pitchFamily="18" charset="0"/>
              </a:rPr>
              <a:t>The control plane comprises these 5 components: </a:t>
            </a:r>
            <a:r>
              <a:rPr lang="en-IN" sz="1400" b="0" i="0" dirty="0" err="1">
                <a:solidFill>
                  <a:srgbClr val="292929"/>
                </a:solidFill>
                <a:effectLst/>
                <a:latin typeface="Centaur" panose="02030504050205020304" pitchFamily="18" charset="0"/>
              </a:rPr>
              <a:t>kube-apiserver</a:t>
            </a:r>
            <a:r>
              <a:rPr lang="en-IN" sz="1400" b="0" i="0" dirty="0">
                <a:solidFill>
                  <a:srgbClr val="292929"/>
                </a:solidFill>
                <a:effectLst/>
                <a:latin typeface="Centaur" panose="02030504050205020304" pitchFamily="18" charset="0"/>
              </a:rPr>
              <a:t>, </a:t>
            </a:r>
            <a:r>
              <a:rPr lang="en-IN" sz="1400" b="0" i="0" dirty="0" err="1">
                <a:solidFill>
                  <a:srgbClr val="292929"/>
                </a:solidFill>
                <a:effectLst/>
                <a:latin typeface="Centaur" panose="02030504050205020304" pitchFamily="18" charset="0"/>
              </a:rPr>
              <a:t>etcd</a:t>
            </a:r>
            <a:r>
              <a:rPr lang="en-IN" sz="1400" b="0" i="0" dirty="0">
                <a:solidFill>
                  <a:srgbClr val="292929"/>
                </a:solidFill>
                <a:effectLst/>
                <a:latin typeface="Centaur" panose="02030504050205020304" pitchFamily="18" charset="0"/>
              </a:rPr>
              <a:t>, </a:t>
            </a:r>
            <a:r>
              <a:rPr lang="en-IN" sz="1400" b="0" i="0" dirty="0" err="1">
                <a:solidFill>
                  <a:srgbClr val="292929"/>
                </a:solidFill>
                <a:effectLst/>
                <a:latin typeface="Centaur" panose="02030504050205020304" pitchFamily="18" charset="0"/>
              </a:rPr>
              <a:t>kube</a:t>
            </a:r>
            <a:r>
              <a:rPr lang="en-IN" sz="1400" b="0" i="0" dirty="0">
                <a:solidFill>
                  <a:srgbClr val="292929"/>
                </a:solidFill>
                <a:effectLst/>
                <a:latin typeface="Centaur" panose="02030504050205020304" pitchFamily="18" charset="0"/>
              </a:rPr>
              <a:t>-scheduler, </a:t>
            </a:r>
            <a:r>
              <a:rPr lang="en-IN" sz="1400" b="0" i="0" dirty="0" err="1">
                <a:solidFill>
                  <a:srgbClr val="292929"/>
                </a:solidFill>
                <a:effectLst/>
                <a:latin typeface="Centaur" panose="02030504050205020304" pitchFamily="18" charset="0"/>
              </a:rPr>
              <a:t>kube</a:t>
            </a:r>
            <a:r>
              <a:rPr lang="en-IN" sz="1400" b="0" i="0" dirty="0">
                <a:solidFill>
                  <a:srgbClr val="292929"/>
                </a:solidFill>
                <a:effectLst/>
                <a:latin typeface="Centaur" panose="02030504050205020304" pitchFamily="18" charset="0"/>
              </a:rPr>
              <a:t>-controller-manager, and cloud-controller-manager. Here’s a detailed explanation of how each of these components operates:</a:t>
            </a:r>
          </a:p>
          <a:p>
            <a:r>
              <a:rPr lang="en-US" sz="1400" b="1" dirty="0">
                <a:latin typeface="Centaur" panose="02030504050205020304" pitchFamily="18" charset="0"/>
              </a:rPr>
              <a:t>Kube-</a:t>
            </a:r>
            <a:r>
              <a:rPr lang="en-US" sz="1400" b="1" dirty="0" err="1">
                <a:latin typeface="Centaur" panose="02030504050205020304" pitchFamily="18" charset="0"/>
              </a:rPr>
              <a:t>apiserver</a:t>
            </a:r>
            <a:r>
              <a:rPr lang="en-US" sz="1400" b="1" dirty="0">
                <a:latin typeface="Centaur" panose="02030504050205020304" pitchFamily="18" charset="0"/>
              </a:rPr>
              <a:t>: </a:t>
            </a:r>
            <a:r>
              <a:rPr lang="en-IN" sz="1400" b="0" i="0" dirty="0">
                <a:effectLst/>
                <a:latin typeface="Centaur" panose="02030504050205020304" pitchFamily="18" charset="0"/>
              </a:rPr>
              <a:t>The Kubernetes API server receives the REST commands which are sent by the user. After receiving, it validates the REST requests, process, and then executes them. After the execution of REST commands, the resulting state of a cluster is saved in '</a:t>
            </a:r>
            <a:r>
              <a:rPr lang="en-IN" sz="1400" b="1" i="0" dirty="0" err="1">
                <a:effectLst/>
                <a:latin typeface="Centaur" panose="02030504050205020304" pitchFamily="18" charset="0"/>
              </a:rPr>
              <a:t>etcd</a:t>
            </a:r>
            <a:r>
              <a:rPr lang="en-IN" sz="1400" b="0" i="0" dirty="0">
                <a:effectLst/>
                <a:latin typeface="Centaur" panose="02030504050205020304" pitchFamily="18" charset="0"/>
              </a:rPr>
              <a:t>' as a distributed key-value store.</a:t>
            </a:r>
          </a:p>
          <a:p>
            <a:r>
              <a:rPr lang="en-US" sz="1400" b="1" dirty="0" err="1">
                <a:latin typeface="Centaur" panose="02030504050205020304" pitchFamily="18" charset="0"/>
              </a:rPr>
              <a:t>Etcd</a:t>
            </a:r>
            <a:r>
              <a:rPr lang="en-US" sz="1400" b="1" dirty="0">
                <a:latin typeface="Centaur" panose="02030504050205020304" pitchFamily="18" charset="0"/>
              </a:rPr>
              <a:t>:</a:t>
            </a:r>
            <a:r>
              <a:rPr lang="en-US" sz="1400" dirty="0">
                <a:latin typeface="Centaur" panose="02030504050205020304" pitchFamily="18" charset="0"/>
              </a:rPr>
              <a:t> it is an open-source, distributed key-value storage which is used to store the cluster data which is written in a GO programming language.</a:t>
            </a:r>
          </a:p>
          <a:p>
            <a:r>
              <a:rPr lang="en-US" sz="1400" b="1" dirty="0">
                <a:latin typeface="Centaur" panose="02030504050205020304" pitchFamily="18" charset="0"/>
              </a:rPr>
              <a:t>Kube-scheduler:</a:t>
            </a:r>
            <a:r>
              <a:rPr lang="en-US" sz="1400" dirty="0">
                <a:latin typeface="Centaur" panose="02030504050205020304" pitchFamily="18" charset="0"/>
              </a:rPr>
              <a:t>  </a:t>
            </a:r>
            <a:r>
              <a:rPr lang="en-IN" sz="1400" b="0" i="0" dirty="0">
                <a:effectLst/>
                <a:latin typeface="Centaur" panose="02030504050205020304" pitchFamily="18" charset="0"/>
              </a:rPr>
              <a:t>it is a process that is responsible for assigning pods to the available worker nodes on the based of resources utilizations.</a:t>
            </a:r>
          </a:p>
          <a:p>
            <a:r>
              <a:rPr lang="en-US" sz="1400" b="1" dirty="0">
                <a:latin typeface="Centaur" panose="02030504050205020304" pitchFamily="18" charset="0"/>
              </a:rPr>
              <a:t>Kube-controller-manager: </a:t>
            </a:r>
            <a:r>
              <a:rPr lang="en-IN" sz="1400" b="0" i="0" dirty="0">
                <a:effectLst/>
                <a:latin typeface="Centaur" panose="02030504050205020304" pitchFamily="18" charset="0"/>
              </a:rPr>
              <a:t>The primary role of this service is to maintain the state of a cluster, such as the number of replicas. If any variation in desired state is observed, the </a:t>
            </a:r>
            <a:r>
              <a:rPr lang="en-IN" sz="1400" b="0" i="0" dirty="0" err="1">
                <a:effectLst/>
                <a:latin typeface="Centaur" panose="02030504050205020304" pitchFamily="18" charset="0"/>
              </a:rPr>
              <a:t>kube</a:t>
            </a:r>
            <a:r>
              <a:rPr lang="en-IN" sz="1400" b="0" i="0" dirty="0">
                <a:effectLst/>
                <a:latin typeface="Centaur" panose="02030504050205020304" pitchFamily="18" charset="0"/>
              </a:rPr>
              <a:t>-controller-manager runs required procedures to make sure that the desired state is met.</a:t>
            </a:r>
            <a:endParaRPr lang="en-US" sz="1400" dirty="0">
              <a:latin typeface="Centaur" panose="02030504050205020304" pitchFamily="18" charset="0"/>
            </a:endParaRPr>
          </a:p>
          <a:p>
            <a:r>
              <a:rPr lang="en-US" sz="1400" b="1" dirty="0">
                <a:latin typeface="Centaur" panose="02030504050205020304" pitchFamily="18" charset="0"/>
              </a:rPr>
              <a:t>Cloud-controller-manager: </a:t>
            </a:r>
            <a:r>
              <a:rPr lang="en-IN" sz="1400" dirty="0">
                <a:latin typeface="Centaur" panose="02030504050205020304" pitchFamily="18" charset="0"/>
              </a:rPr>
              <a:t>The cloud-controller-manager runs cloud-specific controller processes in a cluster. It links the Kubernetes cluster to a cloud provider’s API and isolates the components that interact with that cloud platform from components that only interact with your cluster.</a:t>
            </a:r>
            <a:r>
              <a:rPr lang="en-US" sz="1400" dirty="0">
                <a:latin typeface="Centaur" panose="02030504050205020304" pitchFamily="18" charset="0"/>
              </a:rPr>
              <a:t> </a:t>
            </a:r>
          </a:p>
          <a:p>
            <a:pPr marL="0" indent="0">
              <a:buNone/>
            </a:pPr>
            <a:r>
              <a:rPr lang="en-IN" sz="1400" dirty="0">
                <a:latin typeface="Centaur" panose="02030504050205020304" pitchFamily="18" charset="0"/>
              </a:rPr>
              <a:t>The cloud-controller-manager is absent for on-premises and local environments. For high-performance, the cloud-controller-manager can be horizontally scaled.</a:t>
            </a:r>
            <a:endParaRPr lang="en-US" sz="1400" dirty="0">
              <a:latin typeface="Centaur" panose="02030504050205020304" pitchFamily="18" charset="0"/>
            </a:endParaRPr>
          </a:p>
        </p:txBody>
      </p:sp>
    </p:spTree>
    <p:extLst>
      <p:ext uri="{BB962C8B-B14F-4D97-AF65-F5344CB8AC3E}">
        <p14:creationId xmlns:p14="http://schemas.microsoft.com/office/powerpoint/2010/main" val="4124280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Centaur" panose="02030504050205020304" pitchFamily="18" charset="0"/>
              </a:rPr>
              <a:t>User access to Kubernetes cluster</a:t>
            </a:r>
          </a:p>
        </p:txBody>
      </p:sp>
      <p:pic>
        <p:nvPicPr>
          <p:cNvPr id="4" name="Content Placeholder 3" descr="Diagram&#10;&#10;Description automatically generated">
            <a:extLst>
              <a:ext uri="{FF2B5EF4-FFF2-40B4-BE49-F238E27FC236}">
                <a16:creationId xmlns:a16="http://schemas.microsoft.com/office/drawing/2014/main" id="{C52DD4AC-0BD6-2614-E82B-A68FC668FB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77316" y="749459"/>
            <a:ext cx="6780700" cy="5356753"/>
          </a:xfrm>
          <a:prstGeom prst="rect">
            <a:avLst/>
          </a:prstGeom>
        </p:spPr>
      </p:pic>
    </p:spTree>
    <p:extLst>
      <p:ext uri="{BB962C8B-B14F-4D97-AF65-F5344CB8AC3E}">
        <p14:creationId xmlns:p14="http://schemas.microsoft.com/office/powerpoint/2010/main" val="272761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0">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838201" y="643467"/>
            <a:ext cx="3888526" cy="1800526"/>
          </a:xfrm>
        </p:spPr>
        <p:txBody>
          <a:bodyPr>
            <a:normAutofit/>
          </a:bodyPr>
          <a:lstStyle/>
          <a:p>
            <a:r>
              <a:rPr lang="en-US" dirty="0">
                <a:latin typeface="Centaur" panose="02030504050205020304" pitchFamily="18" charset="0"/>
              </a:rPr>
              <a:t>Data plane</a:t>
            </a:r>
            <a:endParaRPr lang="en-IN" dirty="0">
              <a:latin typeface="Centaur" panose="02030504050205020304" pitchFamily="18" charset="0"/>
            </a:endParaRPr>
          </a:p>
        </p:txBody>
      </p:sp>
      <p:sp>
        <p:nvSpPr>
          <p:cNvPr id="5" name="Content Placeholder 4">
            <a:extLst>
              <a:ext uri="{FF2B5EF4-FFF2-40B4-BE49-F238E27FC236}">
                <a16:creationId xmlns:a16="http://schemas.microsoft.com/office/drawing/2014/main" id="{356B4FA1-B538-D21E-13AD-BB2A0F7092AD}"/>
              </a:ext>
            </a:extLst>
          </p:cNvPr>
          <p:cNvSpPr>
            <a:spLocks noGrp="1"/>
          </p:cNvSpPr>
          <p:nvPr>
            <p:ph idx="1"/>
          </p:nvPr>
        </p:nvSpPr>
        <p:spPr>
          <a:xfrm>
            <a:off x="838201" y="2623381"/>
            <a:ext cx="3888528" cy="1790627"/>
          </a:xfrm>
        </p:spPr>
        <p:txBody>
          <a:bodyPr>
            <a:normAutofit/>
          </a:bodyPr>
          <a:lstStyle/>
          <a:p>
            <a:r>
              <a:rPr lang="en-IN" sz="2000" b="0" i="0" dirty="0">
                <a:effectLst/>
                <a:latin typeface="Centaur" panose="02030504050205020304" pitchFamily="18" charset="0"/>
              </a:rPr>
              <a:t>The data plane is made up of worker nodes. Each worker node contains three components: </a:t>
            </a:r>
            <a:r>
              <a:rPr lang="en-IN" sz="2000" b="1" i="0" dirty="0" err="1">
                <a:effectLst/>
                <a:latin typeface="Centaur" panose="02030504050205020304" pitchFamily="18" charset="0"/>
              </a:rPr>
              <a:t>kubelet</a:t>
            </a:r>
            <a:r>
              <a:rPr lang="en-IN" sz="2000" b="1" i="0" dirty="0">
                <a:effectLst/>
                <a:latin typeface="Centaur" panose="02030504050205020304" pitchFamily="18" charset="0"/>
              </a:rPr>
              <a:t>, </a:t>
            </a:r>
            <a:r>
              <a:rPr lang="en-IN" sz="2000" b="1" i="0" dirty="0" err="1">
                <a:effectLst/>
                <a:latin typeface="Centaur" panose="02030504050205020304" pitchFamily="18" charset="0"/>
              </a:rPr>
              <a:t>kube</a:t>
            </a:r>
            <a:r>
              <a:rPr lang="en-IN" sz="2000" b="1" i="0" dirty="0">
                <a:effectLst/>
                <a:latin typeface="Centaur" panose="02030504050205020304" pitchFamily="18" charset="0"/>
              </a:rPr>
              <a:t>-proxy</a:t>
            </a:r>
            <a:r>
              <a:rPr lang="en-IN" sz="2000" b="0" i="0" dirty="0">
                <a:effectLst/>
                <a:latin typeface="Centaur" panose="02030504050205020304" pitchFamily="18" charset="0"/>
              </a:rPr>
              <a:t>, and </a:t>
            </a:r>
            <a:r>
              <a:rPr lang="en-IN" sz="2000" b="1" i="0" dirty="0">
                <a:effectLst/>
                <a:latin typeface="Centaur" panose="02030504050205020304" pitchFamily="18" charset="0"/>
              </a:rPr>
              <a:t>container runtime.</a:t>
            </a:r>
          </a:p>
          <a:p>
            <a:endParaRPr lang="en-IN" sz="2000" b="0" i="0" dirty="0">
              <a:effectLst/>
              <a:latin typeface="Centaur" panose="02030504050205020304" pitchFamily="18" charset="0"/>
            </a:endParaRPr>
          </a:p>
        </p:txBody>
      </p:sp>
      <p:pic>
        <p:nvPicPr>
          <p:cNvPr id="6" name="Picture 5" descr="Diagram&#10;&#10;Description automatically generated">
            <a:extLst>
              <a:ext uri="{FF2B5EF4-FFF2-40B4-BE49-F238E27FC236}">
                <a16:creationId xmlns:a16="http://schemas.microsoft.com/office/drawing/2014/main" id="{62D40148-35C8-C177-C4B4-EA22E6CB1E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4800" y="643234"/>
            <a:ext cx="3639918" cy="5599876"/>
          </a:xfrm>
          <a:prstGeom prst="rect">
            <a:avLst/>
          </a:prstGeom>
        </p:spPr>
      </p:pic>
    </p:spTree>
    <p:extLst>
      <p:ext uri="{BB962C8B-B14F-4D97-AF65-F5344CB8AC3E}">
        <p14:creationId xmlns:p14="http://schemas.microsoft.com/office/powerpoint/2010/main" val="3751667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838200" y="365125"/>
            <a:ext cx="10515600" cy="848533"/>
          </a:xfrm>
        </p:spPr>
        <p:txBody>
          <a:bodyPr>
            <a:normAutofit/>
          </a:bodyPr>
          <a:lstStyle/>
          <a:p>
            <a:pPr algn="ctr"/>
            <a:r>
              <a:rPr lang="en-US" dirty="0">
                <a:latin typeface="Centaur" panose="02030504050205020304" pitchFamily="18" charset="0"/>
              </a:rPr>
              <a:t>Components of Kubernetes worker</a:t>
            </a:r>
            <a:endParaRPr lang="en-IN" dirty="0">
              <a:latin typeface="Centaur" panose="02030504050205020304" pitchFamily="18" charset="0"/>
            </a:endParaRPr>
          </a:p>
        </p:txBody>
      </p:sp>
      <p:sp>
        <p:nvSpPr>
          <p:cNvPr id="5" name="Content Placeholder 4">
            <a:extLst>
              <a:ext uri="{FF2B5EF4-FFF2-40B4-BE49-F238E27FC236}">
                <a16:creationId xmlns:a16="http://schemas.microsoft.com/office/drawing/2014/main" id="{356B4FA1-B538-D21E-13AD-BB2A0F7092AD}"/>
              </a:ext>
            </a:extLst>
          </p:cNvPr>
          <p:cNvSpPr>
            <a:spLocks noGrp="1"/>
          </p:cNvSpPr>
          <p:nvPr>
            <p:ph idx="1"/>
          </p:nvPr>
        </p:nvSpPr>
        <p:spPr>
          <a:xfrm>
            <a:off x="838200" y="1296785"/>
            <a:ext cx="10515600" cy="4880178"/>
          </a:xfrm>
        </p:spPr>
        <p:txBody>
          <a:bodyPr>
            <a:normAutofit/>
          </a:bodyPr>
          <a:lstStyle/>
          <a:p>
            <a:r>
              <a:rPr lang="en-US" sz="1800" b="1" i="0" dirty="0" err="1">
                <a:effectLst/>
                <a:latin typeface="Centaur" panose="02030504050205020304" pitchFamily="18" charset="0"/>
              </a:rPr>
              <a:t>Kubelet</a:t>
            </a:r>
            <a:r>
              <a:rPr lang="en-US" sz="1800" b="1" i="0" dirty="0">
                <a:effectLst/>
                <a:latin typeface="Centaur" panose="02030504050205020304" pitchFamily="18" charset="0"/>
              </a:rPr>
              <a:t>: </a:t>
            </a:r>
            <a:r>
              <a:rPr lang="en-IN" sz="1800" b="0" i="0" dirty="0">
                <a:effectLst/>
                <a:latin typeface="Centaur" panose="02030504050205020304" pitchFamily="18" charset="0"/>
              </a:rPr>
              <a:t>This component is an agent service that executes on each worker node in a cluster. It takes new or modified pod specifications from </a:t>
            </a:r>
            <a:r>
              <a:rPr lang="en-IN" sz="1800" b="0" i="0" dirty="0" err="1">
                <a:effectLst/>
                <a:latin typeface="Centaur" panose="02030504050205020304" pitchFamily="18" charset="0"/>
              </a:rPr>
              <a:t>kube-apiserver</a:t>
            </a:r>
            <a:r>
              <a:rPr lang="en-IN" sz="1800" b="0" i="0" dirty="0">
                <a:effectLst/>
                <a:latin typeface="Centaur" panose="02030504050205020304" pitchFamily="18" charset="0"/>
              </a:rPr>
              <a:t>. It ensures that the pods and their containers are running smoothly. Every </a:t>
            </a:r>
            <a:r>
              <a:rPr lang="en-IN" sz="1800" b="1" i="0" dirty="0" err="1">
                <a:effectLst/>
                <a:latin typeface="Centaur" panose="02030504050205020304" pitchFamily="18" charset="0"/>
              </a:rPr>
              <a:t>kubelet</a:t>
            </a:r>
            <a:r>
              <a:rPr lang="en-IN" sz="1800" b="0" i="0" dirty="0">
                <a:effectLst/>
                <a:latin typeface="Centaur" panose="02030504050205020304" pitchFamily="18" charset="0"/>
              </a:rPr>
              <a:t> in each worker node communicates with the master node. It also starts, stops, and maintains the containers which are organized into pods directly by the master node.</a:t>
            </a:r>
            <a:endParaRPr lang="en-US" sz="1800" b="0" i="0" dirty="0">
              <a:effectLst/>
              <a:latin typeface="Centaur" panose="02030504050205020304" pitchFamily="18" charset="0"/>
            </a:endParaRPr>
          </a:p>
          <a:p>
            <a:r>
              <a:rPr lang="en-US" sz="1800" b="1" i="0" dirty="0">
                <a:effectLst/>
                <a:latin typeface="Centaur" panose="02030504050205020304" pitchFamily="18" charset="0"/>
              </a:rPr>
              <a:t>Containers runtime: </a:t>
            </a:r>
            <a:r>
              <a:rPr lang="en-US" sz="1800" i="0" dirty="0">
                <a:effectLst/>
                <a:latin typeface="Centaur" panose="02030504050205020304" pitchFamily="18" charset="0"/>
              </a:rPr>
              <a:t>The container-runtime is responsible for running containers in a pod. Kubernetes implements the concept of Container Runtime Interface (CRI), which requires that container runtime environments are compliant with the Open Container Initiative (OCI). Kubernetes supports the following CRIs: cri-o, </a:t>
            </a:r>
            <a:r>
              <a:rPr lang="en-US" sz="1800" i="0" dirty="0" err="1">
                <a:effectLst/>
                <a:latin typeface="Centaur" panose="02030504050205020304" pitchFamily="18" charset="0"/>
              </a:rPr>
              <a:t>rktlet</a:t>
            </a:r>
            <a:r>
              <a:rPr lang="en-US" sz="1800" i="0" dirty="0">
                <a:effectLst/>
                <a:latin typeface="Centaur" panose="02030504050205020304" pitchFamily="18" charset="0"/>
              </a:rPr>
              <a:t>, </a:t>
            </a:r>
            <a:r>
              <a:rPr lang="en-US" sz="1800" i="0" dirty="0" err="1">
                <a:effectLst/>
                <a:latin typeface="Centaur" panose="02030504050205020304" pitchFamily="18" charset="0"/>
              </a:rPr>
              <a:t>frakti</a:t>
            </a:r>
            <a:r>
              <a:rPr lang="en-US" sz="1800" i="0" dirty="0">
                <a:effectLst/>
                <a:latin typeface="Centaur" panose="02030504050205020304" pitchFamily="18" charset="0"/>
              </a:rPr>
              <a:t>, cri-</a:t>
            </a:r>
            <a:r>
              <a:rPr lang="en-US" sz="1800" i="0" dirty="0" err="1">
                <a:effectLst/>
                <a:latin typeface="Centaur" panose="02030504050205020304" pitchFamily="18" charset="0"/>
              </a:rPr>
              <a:t>containerd</a:t>
            </a:r>
            <a:r>
              <a:rPr lang="en-US" sz="1800" i="0" dirty="0">
                <a:effectLst/>
                <a:latin typeface="Centaur" panose="02030504050205020304" pitchFamily="18" charset="0"/>
              </a:rPr>
              <a:t>, singularity-cri.</a:t>
            </a:r>
          </a:p>
          <a:p>
            <a:r>
              <a:rPr lang="en-US" sz="1800" b="1" dirty="0">
                <a:latin typeface="Centaur" panose="02030504050205020304" pitchFamily="18" charset="0"/>
              </a:rPr>
              <a:t>Kube-proxy: </a:t>
            </a:r>
            <a:r>
              <a:rPr lang="en-IN" sz="1800" b="0" i="0" dirty="0">
                <a:effectLst/>
                <a:latin typeface="Centaur" panose="02030504050205020304" pitchFamily="18" charset="0"/>
              </a:rPr>
              <a:t>runs on each worker node</a:t>
            </a:r>
            <a:r>
              <a:rPr lang="en-IN" sz="1800" dirty="0">
                <a:latin typeface="Centaur" panose="02030504050205020304" pitchFamily="18" charset="0"/>
              </a:rPr>
              <a:t>s. </a:t>
            </a:r>
            <a:r>
              <a:rPr lang="en-IN" sz="1800" b="0" i="0" dirty="0">
                <a:effectLst/>
                <a:latin typeface="Centaur" panose="02030504050205020304" pitchFamily="18" charset="0"/>
              </a:rPr>
              <a:t>The main aim of this component is request forwarding. Each node interacts with the Kubernetes services through </a:t>
            </a:r>
            <a:r>
              <a:rPr lang="en-IN" sz="1800" b="1" i="0" dirty="0" err="1">
                <a:effectLst/>
                <a:latin typeface="Centaur" panose="02030504050205020304" pitchFamily="18" charset="0"/>
              </a:rPr>
              <a:t>Kube</a:t>
            </a:r>
            <a:r>
              <a:rPr lang="en-IN" sz="1800" b="1" i="0" dirty="0">
                <a:effectLst/>
                <a:latin typeface="Centaur" panose="02030504050205020304" pitchFamily="18" charset="0"/>
              </a:rPr>
              <a:t>-proxy</a:t>
            </a:r>
            <a:r>
              <a:rPr lang="en-IN" sz="1800" dirty="0">
                <a:latin typeface="Centaur" panose="02030504050205020304" pitchFamily="18" charset="0"/>
              </a:rPr>
              <a:t>. </a:t>
            </a:r>
            <a:r>
              <a:rPr lang="en-IN" sz="1800" b="0" i="0" dirty="0" err="1">
                <a:effectLst/>
                <a:latin typeface="Centaur" panose="02030504050205020304" pitchFamily="18" charset="0"/>
              </a:rPr>
              <a:t>Kube</a:t>
            </a:r>
            <a:r>
              <a:rPr lang="en-IN" sz="1800" b="0" i="0" dirty="0">
                <a:effectLst/>
                <a:latin typeface="Centaur" panose="02030504050205020304" pitchFamily="18" charset="0"/>
              </a:rPr>
              <a:t>-proxy also performs host-level subnetting to ensure services are accessible to other components.</a:t>
            </a:r>
          </a:p>
          <a:p>
            <a:endParaRPr lang="en-IN" sz="1800" b="0" i="0" dirty="0">
              <a:effectLst/>
              <a:latin typeface="Centaur" panose="02030504050205020304" pitchFamily="18" charset="0"/>
            </a:endParaRPr>
          </a:p>
        </p:txBody>
      </p:sp>
    </p:spTree>
    <p:extLst>
      <p:ext uri="{BB962C8B-B14F-4D97-AF65-F5344CB8AC3E}">
        <p14:creationId xmlns:p14="http://schemas.microsoft.com/office/powerpoint/2010/main" val="3257266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838200" y="365125"/>
            <a:ext cx="10515600" cy="848533"/>
          </a:xfrm>
        </p:spPr>
        <p:txBody>
          <a:bodyPr>
            <a:normAutofit/>
          </a:bodyPr>
          <a:lstStyle/>
          <a:p>
            <a:pPr algn="ctr"/>
            <a:r>
              <a:rPr lang="en-US" dirty="0">
                <a:latin typeface="Centaur" panose="02030504050205020304" pitchFamily="18" charset="0"/>
              </a:rPr>
              <a:t>Key objects of </a:t>
            </a:r>
            <a:r>
              <a:rPr lang="en-US" dirty="0" err="1">
                <a:latin typeface="Centaur" panose="02030504050205020304" pitchFamily="18" charset="0"/>
              </a:rPr>
              <a:t>kubernetes</a:t>
            </a:r>
            <a:endParaRPr lang="en-IN" dirty="0">
              <a:latin typeface="Centaur" panose="02030504050205020304" pitchFamily="18" charset="0"/>
            </a:endParaRPr>
          </a:p>
        </p:txBody>
      </p:sp>
      <p:sp>
        <p:nvSpPr>
          <p:cNvPr id="5" name="Content Placeholder 4">
            <a:extLst>
              <a:ext uri="{FF2B5EF4-FFF2-40B4-BE49-F238E27FC236}">
                <a16:creationId xmlns:a16="http://schemas.microsoft.com/office/drawing/2014/main" id="{356B4FA1-B538-D21E-13AD-BB2A0F7092AD}"/>
              </a:ext>
            </a:extLst>
          </p:cNvPr>
          <p:cNvSpPr>
            <a:spLocks noGrp="1"/>
          </p:cNvSpPr>
          <p:nvPr>
            <p:ph idx="1"/>
          </p:nvPr>
        </p:nvSpPr>
        <p:spPr>
          <a:xfrm>
            <a:off x="838200" y="1296785"/>
            <a:ext cx="10515600" cy="4880178"/>
          </a:xfrm>
        </p:spPr>
        <p:txBody>
          <a:bodyPr>
            <a:normAutofit/>
          </a:bodyPr>
          <a:lstStyle/>
          <a:p>
            <a:r>
              <a:rPr lang="en-US" sz="1800" dirty="0">
                <a:latin typeface="Centaur" panose="02030504050205020304" pitchFamily="18" charset="0"/>
              </a:rPr>
              <a:t>Pod : </a:t>
            </a:r>
            <a:r>
              <a:rPr lang="en-IN" sz="1800" b="0" i="0" dirty="0">
                <a:solidFill>
                  <a:srgbClr val="333333"/>
                </a:solidFill>
                <a:effectLst/>
                <a:latin typeface="Centaur" panose="02030504050205020304" pitchFamily="18" charset="0"/>
              </a:rPr>
              <a:t>It is the smallest and simplest basic unit of the Kubernetes application. This object indicates the processes which are running in the cluster. In other works, </a:t>
            </a:r>
            <a:r>
              <a:rPr lang="en-IN" sz="1800" b="0" i="0" dirty="0">
                <a:solidFill>
                  <a:srgbClr val="4A4A4A"/>
                </a:solidFill>
                <a:effectLst/>
                <a:latin typeface="Centaur" panose="02030504050205020304" pitchFamily="18" charset="0"/>
              </a:rPr>
              <a:t>A pod is one or more containers that logically run together on nodes.</a:t>
            </a:r>
            <a:endParaRPr lang="en-US" sz="1800" dirty="0">
              <a:latin typeface="Centaur" panose="02030504050205020304" pitchFamily="18" charset="0"/>
            </a:endParaRPr>
          </a:p>
          <a:p>
            <a:r>
              <a:rPr lang="en-US" sz="1800" b="0" i="0" dirty="0">
                <a:effectLst/>
                <a:latin typeface="Centaur" panose="02030504050205020304" pitchFamily="18" charset="0"/>
              </a:rPr>
              <a:t>Node: </a:t>
            </a:r>
            <a:r>
              <a:rPr lang="en-IN" sz="1800" b="0" i="0" dirty="0">
                <a:solidFill>
                  <a:srgbClr val="333333"/>
                </a:solidFill>
                <a:effectLst/>
                <a:latin typeface="Centaur" panose="02030504050205020304" pitchFamily="18" charset="0"/>
              </a:rPr>
              <a:t>A </a:t>
            </a:r>
            <a:r>
              <a:rPr lang="en-IN" sz="1800" b="1" i="0" dirty="0">
                <a:solidFill>
                  <a:srgbClr val="333333"/>
                </a:solidFill>
                <a:effectLst/>
                <a:latin typeface="Centaur" panose="02030504050205020304" pitchFamily="18" charset="0"/>
              </a:rPr>
              <a:t>node</a:t>
            </a:r>
            <a:r>
              <a:rPr lang="en-IN" sz="1800" b="0" i="0" dirty="0">
                <a:solidFill>
                  <a:srgbClr val="333333"/>
                </a:solidFill>
                <a:effectLst/>
                <a:latin typeface="Centaur" panose="02030504050205020304" pitchFamily="18" charset="0"/>
              </a:rPr>
              <a:t> is nothing but a single host, which is used to run the virtual or physical machines. A node in the Kubernetes cluster is also known as a minion.</a:t>
            </a:r>
            <a:endParaRPr lang="en-US" sz="1800" b="0" i="0" dirty="0">
              <a:effectLst/>
              <a:latin typeface="Centaur" panose="02030504050205020304" pitchFamily="18" charset="0"/>
            </a:endParaRPr>
          </a:p>
          <a:p>
            <a:r>
              <a:rPr lang="en-US" sz="1800" dirty="0">
                <a:latin typeface="Centaur" panose="02030504050205020304" pitchFamily="18" charset="0"/>
              </a:rPr>
              <a:t>Service: </a:t>
            </a:r>
            <a:r>
              <a:rPr lang="en-IN" sz="1800" b="0" i="0" dirty="0">
                <a:solidFill>
                  <a:srgbClr val="333333"/>
                </a:solidFill>
                <a:effectLst/>
                <a:latin typeface="Centaur" panose="02030504050205020304" pitchFamily="18" charset="0"/>
              </a:rPr>
              <a:t>A </a:t>
            </a:r>
            <a:r>
              <a:rPr lang="en-IN" sz="1800" b="1" i="0" dirty="0">
                <a:solidFill>
                  <a:srgbClr val="333333"/>
                </a:solidFill>
                <a:effectLst/>
                <a:latin typeface="Centaur" panose="02030504050205020304" pitchFamily="18" charset="0"/>
              </a:rPr>
              <a:t>service</a:t>
            </a:r>
            <a:r>
              <a:rPr lang="en-IN" sz="1800" b="0" i="0" dirty="0">
                <a:solidFill>
                  <a:srgbClr val="333333"/>
                </a:solidFill>
                <a:effectLst/>
                <a:latin typeface="Centaur" panose="02030504050205020304" pitchFamily="18" charset="0"/>
              </a:rPr>
              <a:t> in a Kubernetes is a logical set of pods, which works together. With the help of services, users can easily manage load balancing configurations.</a:t>
            </a:r>
          </a:p>
          <a:p>
            <a:r>
              <a:rPr lang="en-IN" sz="1800" dirty="0">
                <a:solidFill>
                  <a:srgbClr val="333333"/>
                </a:solidFill>
                <a:latin typeface="Centaur" panose="02030504050205020304" pitchFamily="18" charset="0"/>
              </a:rPr>
              <a:t>Replication controller: </a:t>
            </a:r>
            <a:endParaRPr lang="en-US" sz="1800" dirty="0">
              <a:latin typeface="Centaur" panose="02030504050205020304" pitchFamily="18" charset="0"/>
            </a:endParaRPr>
          </a:p>
          <a:p>
            <a:r>
              <a:rPr lang="en-US" sz="1800" b="0" i="0" dirty="0" err="1">
                <a:effectLst/>
                <a:latin typeface="Centaur" panose="02030504050205020304" pitchFamily="18" charset="0"/>
              </a:rPr>
              <a:t>Replicaset</a:t>
            </a:r>
            <a:r>
              <a:rPr lang="en-US" sz="1800" b="0" i="0" dirty="0">
                <a:effectLst/>
                <a:latin typeface="Centaur" panose="02030504050205020304" pitchFamily="18" charset="0"/>
              </a:rPr>
              <a:t>: </a:t>
            </a:r>
            <a:r>
              <a:rPr lang="en-IN" sz="1800" b="0" i="0" dirty="0">
                <a:solidFill>
                  <a:srgbClr val="4A4D57"/>
                </a:solidFill>
                <a:effectLst/>
                <a:latin typeface="Centaur" panose="02030504050205020304" pitchFamily="18" charset="0"/>
              </a:rPr>
              <a:t> are used to consistently replicate a Pod. They provide a guarantee that a set number of replicas will be running at any time. If a node goes offline or a Pod becomes unhealthy, Kubernetes will automatically schedule a new Pod instance to maintain the specified replica count.</a:t>
            </a:r>
            <a:endParaRPr lang="en-US" sz="1800" b="0" i="0" dirty="0">
              <a:effectLst/>
              <a:latin typeface="Centaur" panose="02030504050205020304" pitchFamily="18" charset="0"/>
            </a:endParaRPr>
          </a:p>
          <a:p>
            <a:r>
              <a:rPr lang="en-US" sz="1800" dirty="0">
                <a:latin typeface="Centaur" panose="02030504050205020304" pitchFamily="18" charset="0"/>
              </a:rPr>
              <a:t>Namespace: </a:t>
            </a:r>
            <a:r>
              <a:rPr lang="en-IN" sz="1800" b="1" i="0" dirty="0">
                <a:solidFill>
                  <a:srgbClr val="333333"/>
                </a:solidFill>
                <a:effectLst/>
                <a:latin typeface="Centaur" panose="02030504050205020304" pitchFamily="18" charset="0"/>
              </a:rPr>
              <a:t>Kubernetes</a:t>
            </a:r>
            <a:r>
              <a:rPr lang="en-IN" sz="1800" b="0" i="0" dirty="0">
                <a:solidFill>
                  <a:srgbClr val="333333"/>
                </a:solidFill>
                <a:effectLst/>
                <a:latin typeface="Centaur" panose="02030504050205020304" pitchFamily="18" charset="0"/>
              </a:rPr>
              <a:t> supports various virtual clusters, which are known as namespaces(resources name). It is a way of dividing the cluster resources between two or more users.</a:t>
            </a:r>
            <a:endParaRPr lang="en-US" sz="1800" dirty="0">
              <a:latin typeface="Centaur" panose="02030504050205020304" pitchFamily="18" charset="0"/>
            </a:endParaRPr>
          </a:p>
          <a:p>
            <a:endParaRPr lang="en-US" sz="1800" b="0" i="0" dirty="0">
              <a:effectLst/>
              <a:latin typeface="Centaur" panose="02030504050205020304" pitchFamily="18" charset="0"/>
            </a:endParaRPr>
          </a:p>
        </p:txBody>
      </p:sp>
    </p:spTree>
    <p:extLst>
      <p:ext uri="{BB962C8B-B14F-4D97-AF65-F5344CB8AC3E}">
        <p14:creationId xmlns:p14="http://schemas.microsoft.com/office/powerpoint/2010/main" val="1727597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8C98-4587-889E-72E7-407E13F06DA6}"/>
              </a:ext>
            </a:extLst>
          </p:cNvPr>
          <p:cNvSpPr>
            <a:spLocks noGrp="1"/>
          </p:cNvSpPr>
          <p:nvPr>
            <p:ph type="title"/>
          </p:nvPr>
        </p:nvSpPr>
        <p:spPr>
          <a:xfrm>
            <a:off x="838200" y="365126"/>
            <a:ext cx="10515600" cy="657340"/>
          </a:xfrm>
        </p:spPr>
        <p:txBody>
          <a:bodyPr>
            <a:normAutofit fontScale="90000"/>
          </a:bodyPr>
          <a:lstStyle/>
          <a:p>
            <a:pPr algn="ctr"/>
            <a:r>
              <a:rPr lang="en-US" dirty="0">
                <a:latin typeface="Centaur" panose="02030504050205020304" pitchFamily="18" charset="0"/>
              </a:rPr>
              <a:t>Features of Kubernetes</a:t>
            </a:r>
            <a:endParaRPr lang="en-IN" dirty="0">
              <a:latin typeface="Centaur" panose="02030504050205020304" pitchFamily="18" charset="0"/>
            </a:endParaRPr>
          </a:p>
        </p:txBody>
      </p:sp>
      <p:sp>
        <p:nvSpPr>
          <p:cNvPr id="5" name="Content Placeholder 4">
            <a:extLst>
              <a:ext uri="{FF2B5EF4-FFF2-40B4-BE49-F238E27FC236}">
                <a16:creationId xmlns:a16="http://schemas.microsoft.com/office/drawing/2014/main" id="{356B4FA1-B538-D21E-13AD-BB2A0F7092AD}"/>
              </a:ext>
            </a:extLst>
          </p:cNvPr>
          <p:cNvSpPr>
            <a:spLocks noGrp="1"/>
          </p:cNvSpPr>
          <p:nvPr>
            <p:ph idx="1"/>
          </p:nvPr>
        </p:nvSpPr>
        <p:spPr>
          <a:xfrm>
            <a:off x="838200" y="1080655"/>
            <a:ext cx="10515600" cy="5096308"/>
          </a:xfrm>
        </p:spPr>
        <p:txBody>
          <a:bodyPr>
            <a:noAutofit/>
          </a:bodyPr>
          <a:lstStyle/>
          <a:p>
            <a:r>
              <a:rPr lang="en-US" sz="1600" b="0" i="0" dirty="0">
                <a:effectLst/>
                <a:latin typeface="Centaur" panose="02030504050205020304" pitchFamily="18" charset="0"/>
              </a:rPr>
              <a:t>Pod: </a:t>
            </a:r>
            <a:r>
              <a:rPr lang="en-IN" sz="1600" b="0" i="0" dirty="0">
                <a:solidFill>
                  <a:srgbClr val="000000"/>
                </a:solidFill>
                <a:effectLst/>
                <a:latin typeface="Centaur" panose="02030504050205020304" pitchFamily="18" charset="0"/>
              </a:rPr>
              <a:t>A pod is a collection of containers and its storage inside a node of a Kubernetes cluster. It is possible to create a pod with multiple containers inside it. For example, keeping a database container and data container in the same pod. Two types of pods 1) single container pod 2) Multi container pod.</a:t>
            </a:r>
            <a:endParaRPr lang="en-US" sz="1600" b="0" i="0" dirty="0">
              <a:effectLst/>
              <a:latin typeface="Centaur" panose="02030504050205020304" pitchFamily="18" charset="0"/>
            </a:endParaRPr>
          </a:p>
          <a:p>
            <a:r>
              <a:rPr lang="en-US" sz="1600" dirty="0">
                <a:latin typeface="Centaur" panose="02030504050205020304" pitchFamily="18" charset="0"/>
              </a:rPr>
              <a:t>Horizontal scaling: </a:t>
            </a:r>
            <a:r>
              <a:rPr lang="en-IN" sz="1600" b="0" i="0" dirty="0">
                <a:solidFill>
                  <a:srgbClr val="4A4A4A"/>
                </a:solidFill>
                <a:effectLst/>
                <a:latin typeface="Centaur" panose="02030504050205020304" pitchFamily="18" charset="0"/>
              </a:rPr>
              <a:t>Kubernetes can scale up and scale down the application as per the requirements with a simple command, using a UI, or automatically based on CPU usage.</a:t>
            </a:r>
            <a:endParaRPr lang="en-US" sz="1600" dirty="0">
              <a:latin typeface="Centaur" panose="02030504050205020304" pitchFamily="18" charset="0"/>
            </a:endParaRPr>
          </a:p>
          <a:p>
            <a:r>
              <a:rPr lang="en-US" sz="1600" dirty="0">
                <a:latin typeface="Centaur" panose="02030504050205020304" pitchFamily="18" charset="0"/>
              </a:rPr>
              <a:t>Service discovery : </a:t>
            </a:r>
            <a:r>
              <a:rPr lang="en-IN" sz="1600" b="0" i="0" dirty="0">
                <a:solidFill>
                  <a:srgbClr val="292929"/>
                </a:solidFill>
                <a:effectLst/>
                <a:latin typeface="Centaur" panose="02030504050205020304" pitchFamily="18" charset="0"/>
              </a:rPr>
              <a:t>Kubernetes can expose a container using the DNS name or using their own IP address. It can also automatically manage DNS records by specifying and transferring services to their required hosts.</a:t>
            </a:r>
          </a:p>
          <a:p>
            <a:r>
              <a:rPr lang="en-IN" sz="1600" dirty="0">
                <a:solidFill>
                  <a:srgbClr val="292929"/>
                </a:solidFill>
                <a:latin typeface="Centaur" panose="02030504050205020304" pitchFamily="18" charset="0"/>
              </a:rPr>
              <a:t>Load balancing: </a:t>
            </a:r>
            <a:r>
              <a:rPr lang="en-IN" sz="1600" b="0" i="0" dirty="0">
                <a:solidFill>
                  <a:srgbClr val="292929"/>
                </a:solidFill>
                <a:effectLst/>
                <a:latin typeface="Centaur" panose="02030504050205020304" pitchFamily="18" charset="0"/>
              </a:rPr>
              <a:t>Kubernetes load balances and distribute network traffic to containers to maintain stable deployment</a:t>
            </a:r>
            <a:endParaRPr lang="en-US" sz="1600" dirty="0">
              <a:latin typeface="Centaur" panose="02030504050205020304" pitchFamily="18" charset="0"/>
            </a:endParaRPr>
          </a:p>
          <a:p>
            <a:r>
              <a:rPr lang="en-US" sz="1600" b="0" i="0" dirty="0">
                <a:effectLst/>
                <a:latin typeface="Centaur" panose="02030504050205020304" pitchFamily="18" charset="0"/>
              </a:rPr>
              <a:t>Automated rollouts and rollbacks: </a:t>
            </a:r>
            <a:r>
              <a:rPr lang="en-IN" sz="1600" b="0" i="0" dirty="0">
                <a:solidFill>
                  <a:srgbClr val="4A4A4A"/>
                </a:solidFill>
                <a:effectLst/>
                <a:latin typeface="Centaur" panose="02030504050205020304" pitchFamily="18" charset="0"/>
              </a:rPr>
              <a:t>Kubernetes rolls out changes to the application or its configuration while monitoring application health to ensure it doesn’t kill all your instances at the same time. If something goes wrong, with Kubernetes you can rollback the change.</a:t>
            </a:r>
            <a:endParaRPr lang="en-US" sz="1600" b="0" i="0" dirty="0">
              <a:effectLst/>
              <a:latin typeface="Centaur" panose="02030504050205020304" pitchFamily="18" charset="0"/>
            </a:endParaRPr>
          </a:p>
          <a:p>
            <a:r>
              <a:rPr lang="en-US" sz="1600" dirty="0">
                <a:latin typeface="Centaur" panose="02030504050205020304" pitchFamily="18" charset="0"/>
              </a:rPr>
              <a:t>Persistent Storage: </a:t>
            </a:r>
            <a:r>
              <a:rPr lang="en-IN" sz="1600" b="0" i="0" dirty="0">
                <a:solidFill>
                  <a:srgbClr val="000000"/>
                </a:solidFill>
                <a:effectLst/>
                <a:latin typeface="Centaur" panose="02030504050205020304" pitchFamily="18" charset="0"/>
              </a:rPr>
              <a:t>Kubernetes provides an essential feature called '</a:t>
            </a:r>
            <a:r>
              <a:rPr lang="en-IN" sz="1600" b="1" i="0" dirty="0">
                <a:solidFill>
                  <a:srgbClr val="000000"/>
                </a:solidFill>
                <a:effectLst/>
                <a:latin typeface="Centaur" panose="02030504050205020304" pitchFamily="18" charset="0"/>
              </a:rPr>
              <a:t>persistent storage'</a:t>
            </a:r>
            <a:r>
              <a:rPr lang="en-IN" sz="1600" b="0" i="0" dirty="0">
                <a:solidFill>
                  <a:srgbClr val="000000"/>
                </a:solidFill>
                <a:effectLst/>
                <a:latin typeface="Centaur" panose="02030504050205020304" pitchFamily="18" charset="0"/>
              </a:rPr>
              <a:t> for storing the data, which cannot be lost after the pod is killed or rescheduled. Kubernetes supports various storage systems for storing the data, such as </a:t>
            </a:r>
            <a:r>
              <a:rPr lang="en-IN" sz="1600" b="1" i="0" dirty="0">
                <a:solidFill>
                  <a:srgbClr val="000000"/>
                </a:solidFill>
                <a:effectLst/>
                <a:latin typeface="Centaur" panose="02030504050205020304" pitchFamily="18" charset="0"/>
              </a:rPr>
              <a:t>Google Compute Engine's Persistent Disks (GCE PD) or Amazon Elastic Block Storage (EBS).</a:t>
            </a:r>
            <a:r>
              <a:rPr lang="en-IN" sz="1600" b="0" i="0" dirty="0">
                <a:solidFill>
                  <a:srgbClr val="000000"/>
                </a:solidFill>
                <a:effectLst/>
                <a:latin typeface="Centaur" panose="02030504050205020304" pitchFamily="18" charset="0"/>
              </a:rPr>
              <a:t> It also provides the distributed file systems: </a:t>
            </a:r>
            <a:r>
              <a:rPr lang="en-IN" sz="1600" b="1" i="0" dirty="0">
                <a:solidFill>
                  <a:srgbClr val="000000"/>
                </a:solidFill>
                <a:effectLst/>
                <a:latin typeface="Centaur" panose="02030504050205020304" pitchFamily="18" charset="0"/>
              </a:rPr>
              <a:t>NFS or GFS</a:t>
            </a:r>
            <a:r>
              <a:rPr lang="en-IN" sz="1600" b="0" i="0" dirty="0">
                <a:solidFill>
                  <a:srgbClr val="000000"/>
                </a:solidFill>
                <a:effectLst/>
                <a:latin typeface="Centaur" panose="02030504050205020304" pitchFamily="18" charset="0"/>
              </a:rPr>
              <a:t>.</a:t>
            </a:r>
            <a:endParaRPr lang="en-US" sz="1600" dirty="0">
              <a:latin typeface="Centaur" panose="02030504050205020304" pitchFamily="18" charset="0"/>
            </a:endParaRPr>
          </a:p>
          <a:p>
            <a:r>
              <a:rPr lang="en-US" sz="1600" b="0" i="0" dirty="0">
                <a:effectLst/>
                <a:latin typeface="Centaur" panose="02030504050205020304" pitchFamily="18" charset="0"/>
              </a:rPr>
              <a:t>Self Healing: </a:t>
            </a:r>
            <a:r>
              <a:rPr lang="en-IN" sz="1600" b="0" i="0" dirty="0">
                <a:solidFill>
                  <a:srgbClr val="4A4A4A"/>
                </a:solidFill>
                <a:effectLst/>
                <a:latin typeface="Centaur" panose="02030504050205020304" pitchFamily="18" charset="0"/>
              </a:rPr>
              <a:t>Kubernetes allows to replaces and reschedules containers when nodes die. It also kills containers that don’t respond to user-defined health check and doesn’t advertise them to clients until they are ready to serve.</a:t>
            </a:r>
            <a:endParaRPr lang="en-US" sz="1600" dirty="0">
              <a:latin typeface="Centaur" panose="02030504050205020304" pitchFamily="18" charset="0"/>
            </a:endParaRPr>
          </a:p>
          <a:p>
            <a:r>
              <a:rPr lang="en-US" sz="1600" b="0" i="0" dirty="0">
                <a:effectLst/>
                <a:latin typeface="Centaur" panose="02030504050205020304" pitchFamily="18" charset="0"/>
              </a:rPr>
              <a:t>Automated scheduling: </a:t>
            </a:r>
            <a:r>
              <a:rPr lang="en-IN" sz="1600" b="0" i="0" dirty="0">
                <a:solidFill>
                  <a:srgbClr val="4A4A4A"/>
                </a:solidFill>
                <a:effectLst/>
                <a:latin typeface="Centaur" panose="02030504050205020304" pitchFamily="18" charset="0"/>
              </a:rPr>
              <a:t>Kubernetes provides advanced scheduler to launch container on cluster nodes based on their resource requirements and other constraints, while not sacrificing availability.</a:t>
            </a:r>
            <a:endParaRPr lang="en-US" sz="1600" b="0" i="0" dirty="0">
              <a:effectLst/>
              <a:latin typeface="Centaur" panose="02030504050205020304" pitchFamily="18" charset="0"/>
            </a:endParaRPr>
          </a:p>
        </p:txBody>
      </p:sp>
    </p:spTree>
    <p:extLst>
      <p:ext uri="{BB962C8B-B14F-4D97-AF65-F5344CB8AC3E}">
        <p14:creationId xmlns:p14="http://schemas.microsoft.com/office/powerpoint/2010/main" val="2010923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1073</TotalTime>
  <Words>1303</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Centaur</vt:lpstr>
      <vt:lpstr>Office Theme</vt:lpstr>
      <vt:lpstr>Kubernetes</vt:lpstr>
      <vt:lpstr>Components of Kubernetes master</vt:lpstr>
      <vt:lpstr>Components of Kubernetes master</vt:lpstr>
      <vt:lpstr>User access to Kubernetes cluster</vt:lpstr>
      <vt:lpstr>Data plane</vt:lpstr>
      <vt:lpstr>Components of Kubernetes worker</vt:lpstr>
      <vt:lpstr>Key objects of kubernetes</vt:lpstr>
      <vt:lpstr>Features of Kubernetes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Bhandari, Manish</dc:creator>
  <cp:lastModifiedBy>Bhandari, Manish</cp:lastModifiedBy>
  <cp:revision>191</cp:revision>
  <dcterms:created xsi:type="dcterms:W3CDTF">2022-12-22T14:39:56Z</dcterms:created>
  <dcterms:modified xsi:type="dcterms:W3CDTF">2022-12-23T08:33:10Z</dcterms:modified>
</cp:coreProperties>
</file>